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10866" r:id="rId2"/>
    <p:sldId id="10894" r:id="rId3"/>
    <p:sldId id="10895" r:id="rId4"/>
    <p:sldId id="10904" r:id="rId5"/>
    <p:sldId id="10896" r:id="rId6"/>
    <p:sldId id="10897" r:id="rId7"/>
    <p:sldId id="10900" r:id="rId8"/>
    <p:sldId id="10901" r:id="rId9"/>
    <p:sldId id="10902" r:id="rId10"/>
    <p:sldId id="1090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660"/>
  </p:normalViewPr>
  <p:slideViewPr>
    <p:cSldViewPr snapToGrid="0">
      <p:cViewPr varScale="1">
        <p:scale>
          <a:sx n="91" d="100"/>
          <a:sy n="91" d="100"/>
        </p:scale>
        <p:origin x="15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54F9F-F5FB-44CA-9CEF-FB51C72E1C07}" type="datetimeFigureOut">
              <a:rPr lang="en-MY" smtClean="0"/>
              <a:t>28/11/2025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104B7-F895-4B1E-BECB-32503061A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71043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94877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787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776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115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491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37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992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02038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4"/>
          <p:cNvSpPr/>
          <p:nvPr/>
        </p:nvSpPr>
        <p:spPr>
          <a:xfrm>
            <a:off x="0" y="3789363"/>
            <a:ext cx="9144000" cy="14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35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96151" y="196852"/>
            <a:ext cx="1668463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テキスト ボックス 7"/>
          <p:cNvSpPr txBox="1">
            <a:spLocks noChangeArrowheads="1"/>
          </p:cNvSpPr>
          <p:nvPr/>
        </p:nvSpPr>
        <p:spPr bwMode="auto">
          <a:xfrm>
            <a:off x="69850" y="6524626"/>
            <a:ext cx="1570038" cy="230832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9pPr>
          </a:lstStyle>
          <a:p>
            <a:pPr algn="ctr">
              <a:defRPr/>
            </a:pPr>
            <a:r>
              <a:rPr lang="en-US" altLang="ja-JP" sz="900" b="1" i="1">
                <a:solidFill>
                  <a:schemeClr val="bg1"/>
                </a:solidFill>
              </a:rPr>
              <a:t>CONFIDENTIAL</a:t>
            </a:r>
            <a:endParaRPr lang="ja-JP" altLang="en-US" sz="900" b="1" i="1">
              <a:solidFill>
                <a:schemeClr val="bg1"/>
              </a:solidFill>
            </a:endParaRPr>
          </a:p>
        </p:txBody>
      </p:sp>
      <p:pic>
        <p:nvPicPr>
          <p:cNvPr id="7" name="Picture 2" descr="F:\be4mydoc\太陽誘電_PPTテンプレ作成\グラデーション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211140"/>
            <a:ext cx="6964363" cy="9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サブタイトル 2"/>
          <p:cNvSpPr txBox="1">
            <a:spLocks/>
          </p:cNvSpPr>
          <p:nvPr/>
        </p:nvSpPr>
        <p:spPr bwMode="auto">
          <a:xfrm>
            <a:off x="6089348" y="404813"/>
            <a:ext cx="2953053" cy="49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  <a:defRPr/>
            </a:pPr>
            <a:r>
              <a:rPr lang="en-US" altLang="ja-JP" sz="1200" dirty="0">
                <a:solidFill>
                  <a:srgbClr val="FF0000"/>
                </a:solidFill>
                <a:latin typeface="Arial" charset="0"/>
                <a:ea typeface="HGPｺﾞｼｯｸM" pitchFamily="50" charset="-128"/>
              </a:rPr>
              <a:t>Unauthorized reproduction or distribution</a:t>
            </a:r>
          </a:p>
          <a:p>
            <a:pPr algn="r">
              <a:spcBef>
                <a:spcPct val="20000"/>
              </a:spcBef>
              <a:defRPr/>
            </a:pPr>
            <a:r>
              <a:rPr lang="en-US" altLang="ja-JP" sz="1200" dirty="0">
                <a:solidFill>
                  <a:srgbClr val="FF0000"/>
                </a:solidFill>
                <a:latin typeface="Arial" charset="0"/>
                <a:ea typeface="HGPｺﾞｼｯｸM" pitchFamily="50" charset="-128"/>
              </a:rPr>
              <a:t> of this document is strictly prohibited</a:t>
            </a:r>
            <a:endParaRPr lang="ja-JP" altLang="en-US" sz="120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2204867"/>
            <a:ext cx="9144000" cy="147002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34069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043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4"/>
          <p:cNvSpPr/>
          <p:nvPr/>
        </p:nvSpPr>
        <p:spPr>
          <a:xfrm>
            <a:off x="0" y="3789363"/>
            <a:ext cx="9144000" cy="14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35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96151" y="196852"/>
            <a:ext cx="1668463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テキスト ボックス 7"/>
          <p:cNvSpPr txBox="1">
            <a:spLocks noChangeArrowheads="1"/>
          </p:cNvSpPr>
          <p:nvPr/>
        </p:nvSpPr>
        <p:spPr bwMode="auto">
          <a:xfrm>
            <a:off x="69850" y="6524626"/>
            <a:ext cx="1570038" cy="230832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9pPr>
          </a:lstStyle>
          <a:p>
            <a:pPr algn="ctr">
              <a:defRPr/>
            </a:pPr>
            <a:r>
              <a:rPr lang="en-US" altLang="ja-JP" sz="900" b="1" i="1">
                <a:solidFill>
                  <a:schemeClr val="bg1"/>
                </a:solidFill>
              </a:rPr>
              <a:t>CONFIDENTIAL</a:t>
            </a:r>
            <a:endParaRPr lang="ja-JP" altLang="en-US" sz="900" b="1" i="1">
              <a:solidFill>
                <a:schemeClr val="bg1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2204867"/>
            <a:ext cx="9144000" cy="1470025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34069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4218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4"/>
          <p:cNvSpPr txBox="1">
            <a:spLocks noChangeArrowheads="1"/>
          </p:cNvSpPr>
          <p:nvPr/>
        </p:nvSpPr>
        <p:spPr bwMode="auto">
          <a:xfrm>
            <a:off x="69850" y="6524626"/>
            <a:ext cx="1570038" cy="230832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9pPr>
          </a:lstStyle>
          <a:p>
            <a:pPr algn="ctr">
              <a:defRPr/>
            </a:pPr>
            <a:r>
              <a:rPr lang="en-US" altLang="ja-JP" sz="900" b="1" i="1">
                <a:solidFill>
                  <a:schemeClr val="bg1"/>
                </a:solidFill>
              </a:rPr>
              <a:t>CONFIDENTIAL</a:t>
            </a:r>
            <a:endParaRPr lang="ja-JP" altLang="en-US" sz="900" b="1" i="1">
              <a:solidFill>
                <a:schemeClr val="bg1"/>
              </a:solidFill>
            </a:endParaRPr>
          </a:p>
        </p:txBody>
      </p:sp>
      <p:pic>
        <p:nvPicPr>
          <p:cNvPr id="5" name="Picture 2" descr="F:\be4mydoc\太陽誘電_PPTテンプレ作成\グラデーション細い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49275"/>
            <a:ext cx="9124950" cy="1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97314" y="6607177"/>
            <a:ext cx="1347787" cy="11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2100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57175" indent="-257175">
              <a:buClr>
                <a:schemeClr val="accent2"/>
              </a:buClr>
              <a:buFont typeface="Wingdings" pitchFamily="2" charset="2"/>
              <a:buChar char="n"/>
              <a:defRPr sz="1800"/>
            </a:lvl1pPr>
            <a:lvl2pPr marL="557213" indent="-214313">
              <a:buClr>
                <a:schemeClr val="accent6"/>
              </a:buClr>
              <a:buFont typeface="Wingdings" pitchFamily="2" charset="2"/>
              <a:buChar char="l"/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39620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4"/>
          <p:cNvSpPr txBox="1">
            <a:spLocks noChangeArrowheads="1"/>
          </p:cNvSpPr>
          <p:nvPr/>
        </p:nvSpPr>
        <p:spPr bwMode="auto">
          <a:xfrm>
            <a:off x="69850" y="6524626"/>
            <a:ext cx="1570038" cy="230832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9pPr>
          </a:lstStyle>
          <a:p>
            <a:pPr algn="ctr">
              <a:defRPr/>
            </a:pPr>
            <a:r>
              <a:rPr lang="en-US" altLang="ja-JP" sz="900" b="1" i="1">
                <a:solidFill>
                  <a:schemeClr val="bg1"/>
                </a:solidFill>
              </a:rPr>
              <a:t>CONFIDENTIAL</a:t>
            </a:r>
            <a:endParaRPr lang="ja-JP" altLang="en-US" sz="900" b="1" i="1">
              <a:solidFill>
                <a:schemeClr val="bg1"/>
              </a:solidFill>
            </a:endParaRPr>
          </a:p>
        </p:txBody>
      </p:sp>
      <p:pic>
        <p:nvPicPr>
          <p:cNvPr id="4" name="Picture 2" descr="F:\be4mydoc\太陽誘電_PPTテンプレ作成\グラデーション細い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49275"/>
            <a:ext cx="9124950" cy="1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97314" y="6607177"/>
            <a:ext cx="1347787" cy="11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2100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6" name="スライド番号プレースホルダー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49150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14502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43325" y="6669090"/>
            <a:ext cx="16573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テキスト ボックス 3"/>
          <p:cNvSpPr txBox="1">
            <a:spLocks noChangeArrowheads="1"/>
          </p:cNvSpPr>
          <p:nvPr/>
        </p:nvSpPr>
        <p:spPr bwMode="auto">
          <a:xfrm>
            <a:off x="69850" y="6524626"/>
            <a:ext cx="1570038" cy="230832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900" b="1" i="1" dirty="0">
                <a:solidFill>
                  <a:prstClr val="white"/>
                </a:solidFill>
                <a:cs typeface="Meiryo UI" pitchFamily="50" charset="-128"/>
              </a:rPr>
              <a:t>CONFIDENTIAL</a:t>
            </a:r>
            <a:endParaRPr lang="ja-JP" altLang="en-US" sz="900" b="1" i="1" dirty="0">
              <a:solidFill>
                <a:prstClr val="white"/>
              </a:solidFill>
              <a:cs typeface="Meiryo UI" pitchFamily="50" charset="-128"/>
            </a:endParaRPr>
          </a:p>
        </p:txBody>
      </p:sp>
      <p:pic>
        <p:nvPicPr>
          <p:cNvPr id="5" name="Picture 2" descr="F:\be4mydoc\太陽誘電_PPTテンプレ作成\グラデーション細い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25600"/>
            <a:ext cx="9124950" cy="1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テキスト ボックス 5"/>
          <p:cNvSpPr txBox="1">
            <a:spLocks noChangeArrowheads="1"/>
          </p:cNvSpPr>
          <p:nvPr/>
        </p:nvSpPr>
        <p:spPr bwMode="auto">
          <a:xfrm>
            <a:off x="7092951" y="6597651"/>
            <a:ext cx="201612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HGPｺﾞｼｯｸM" pitchFamily="50" charset="-128"/>
              </a:defRPr>
            </a:lvl9pPr>
          </a:lstStyle>
          <a:p>
            <a:pPr algn="r">
              <a:defRPr/>
            </a:pPr>
            <a:fld id="{DDFBC5AF-5ABD-457B-9FC2-E3173A87CF86}" type="slidenum">
              <a:rPr lang="ja-JP" altLang="en-US" sz="900" smtClean="0">
                <a:solidFill>
                  <a:srgbClr val="292929"/>
                </a:solidFill>
                <a:cs typeface="Meiryo UI" pitchFamily="50" charset="-128"/>
              </a:rPr>
              <a:pPr algn="r">
                <a:defRPr/>
              </a:pPr>
              <a:t>‹#›</a:t>
            </a:fld>
            <a:endParaRPr lang="ja-JP" altLang="en-US" sz="900" dirty="0">
              <a:solidFill>
                <a:srgbClr val="292929"/>
              </a:solidFill>
              <a:cs typeface="Meiryo UI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" y="0"/>
            <a:ext cx="8905875" cy="419100"/>
          </a:xfrm>
        </p:spPr>
        <p:txBody>
          <a:bodyPr/>
          <a:lstStyle>
            <a:lvl1pPr algn="l">
              <a:defRPr sz="2100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6770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119063" y="115888"/>
            <a:ext cx="89058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119063" y="620714"/>
            <a:ext cx="8905875" cy="597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891338" y="6597650"/>
            <a:ext cx="2133600" cy="2159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50">
                <a:ea typeface="HGPｺﾞｼｯｸM" pitchFamily="50" charset="-128"/>
              </a:defRPr>
            </a:lvl1pPr>
          </a:lstStyle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95399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lang="ja-JP" altLang="en-US" sz="1800" b="1" kern="1200" dirty="0">
          <a:solidFill>
            <a:schemeClr val="tx1"/>
          </a:solidFill>
          <a:latin typeface="+mn-ea"/>
          <a:ea typeface="+mn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HGPｺﾞｼｯｸM" pitchFamily="50" charset="-128"/>
          <a:ea typeface="HGPｺﾞｼｯｸM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HGPｺﾞｼｯｸM" pitchFamily="50" charset="-128"/>
          <a:ea typeface="HGPｺﾞｼｯｸM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HGPｺﾞｼｯｸM" pitchFamily="50" charset="-128"/>
          <a:ea typeface="HGPｺﾞｼｯｸM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HGPｺﾞｼｯｸM" pitchFamily="50" charset="-128"/>
          <a:ea typeface="HGPｺﾞｼｯｸM" pitchFamily="50" charset="-128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HGPｺﾞｼｯｸM" pitchFamily="50" charset="-128"/>
          <a:ea typeface="HGPｺﾞｼｯｸM" pitchFamily="50" charset="-128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HGPｺﾞｼｯｸM" pitchFamily="50" charset="-128"/>
          <a:ea typeface="HGPｺﾞｼｯｸM" pitchFamily="50" charset="-128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HGPｺﾞｼｯｸM" pitchFamily="50" charset="-128"/>
          <a:ea typeface="HGPｺﾞｼｯｸM" pitchFamily="50" charset="-128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HGPｺﾞｼｯｸM" pitchFamily="50" charset="-128"/>
          <a:ea typeface="HGPｺﾞｼｯｸM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xmlns="" id="{735DDA6E-00AF-4AD5-8A9F-F020847E9EDF}"/>
              </a:ext>
            </a:extLst>
          </p:cNvPr>
          <p:cNvSpPr txBox="1">
            <a:spLocks/>
          </p:cNvSpPr>
          <p:nvPr/>
        </p:nvSpPr>
        <p:spPr bwMode="auto">
          <a:xfrm>
            <a:off x="-84841" y="3983916"/>
            <a:ext cx="9042593" cy="1704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ja-JP" altLang="en-US"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GPｺﾞｼｯｸM" pitchFamily="50" charset="-128"/>
                <a:ea typeface="HGPｺﾞｼｯｸM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GPｺﾞｼｯｸM" pitchFamily="50" charset="-128"/>
                <a:ea typeface="HGPｺﾞｼｯｸM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GPｺﾞｼｯｸM" pitchFamily="50" charset="-128"/>
                <a:ea typeface="HGPｺﾞｼｯｸM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GPｺﾞｼｯｸM" pitchFamily="50" charset="-128"/>
                <a:ea typeface="HGPｺﾞｼｯｸM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GPｺﾞｼｯｸM" pitchFamily="50" charset="-128"/>
                <a:ea typeface="HGPｺﾞｼｯｸM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GPｺﾞｼｯｸM" pitchFamily="50" charset="-128"/>
                <a:ea typeface="HGPｺﾞｼｯｸM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GPｺﾞｼｯｸM" pitchFamily="50" charset="-128"/>
                <a:ea typeface="HGPｺﾞｼｯｸM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GPｺﾞｼｯｸM" pitchFamily="50" charset="-128"/>
                <a:ea typeface="HGPｺﾞｼｯｸM" pitchFamily="50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MY" altLang="ja-JP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Process Induction Training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MY" altLang="zh-TW" dirty="0">
              <a:solidFill>
                <a:srgbClr val="29292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29292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/>
            </a:r>
            <a:br>
              <a:rPr lang="zh-TW" altLang="en-US" b="0" dirty="0">
                <a:solidFill>
                  <a:srgbClr val="29292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</a:br>
            <a:r>
              <a:rPr lang="en-MY" altLang="zh-TW" sz="2400" b="0" dirty="0">
                <a:solidFill>
                  <a:srgbClr val="29292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Process </a:t>
            </a:r>
            <a:r>
              <a:rPr lang="en-MY" altLang="zh-TW" sz="2400" b="0" dirty="0" smtClean="0">
                <a:solidFill>
                  <a:srgbClr val="29292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: </a:t>
            </a:r>
            <a:r>
              <a:rPr lang="en-MY" altLang="zh-TW" sz="2400" b="0" dirty="0" err="1" smtClean="0">
                <a:solidFill>
                  <a:srgbClr val="29292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Tokou</a:t>
            </a:r>
            <a:endParaRPr lang="en-MY" altLang="zh-TW" sz="2400" b="0" dirty="0">
              <a:solidFill>
                <a:srgbClr val="29292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MY" altLang="zh-TW" sz="2400" b="0" dirty="0">
                <a:solidFill>
                  <a:srgbClr val="29292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Name </a:t>
            </a:r>
            <a:r>
              <a:rPr lang="en-MY" altLang="zh-TW" sz="2400" b="0" dirty="0" smtClean="0">
                <a:solidFill>
                  <a:srgbClr val="29292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:</a:t>
            </a:r>
            <a:r>
              <a:rPr lang="en-MY" altLang="zh-TW" sz="2400" b="0" dirty="0">
                <a:solidFill>
                  <a:srgbClr val="29292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 </a:t>
            </a:r>
            <a:r>
              <a:rPr lang="en-MY" altLang="zh-TW" sz="2400" b="0" dirty="0" smtClean="0">
                <a:solidFill>
                  <a:srgbClr val="29292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ALVIN ANAK SAMAIL</a:t>
            </a:r>
            <a:endParaRPr lang="en-MY" altLang="zh-TW" sz="2400" b="0" dirty="0">
              <a:solidFill>
                <a:srgbClr val="29292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MY" altLang="zh-TW" sz="2400" b="0" dirty="0">
                <a:solidFill>
                  <a:srgbClr val="29292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Staff ID </a:t>
            </a:r>
            <a:r>
              <a:rPr lang="en-MY" altLang="zh-TW" sz="2400" b="0" dirty="0" smtClean="0">
                <a:solidFill>
                  <a:srgbClr val="29292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:</a:t>
            </a:r>
            <a:r>
              <a:rPr lang="en-MY" altLang="zh-TW" sz="2400" b="0" dirty="0">
                <a:solidFill>
                  <a:srgbClr val="29292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 </a:t>
            </a:r>
            <a:r>
              <a:rPr lang="en-MY" altLang="zh-TW" sz="2400" b="0" dirty="0" smtClean="0">
                <a:solidFill>
                  <a:srgbClr val="29292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25029</a:t>
            </a:r>
            <a:endParaRPr lang="en-US" altLang="zh-TW" sz="2400" dirty="0">
              <a:solidFill>
                <a:srgbClr val="292929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="0" dirty="0">
                <a:solidFill>
                  <a:srgbClr val="29292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Date : </a:t>
            </a:r>
            <a:r>
              <a:rPr lang="en-US" altLang="zh-TW" sz="2400" b="0" dirty="0" smtClean="0">
                <a:solidFill>
                  <a:srgbClr val="29292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24/11/2025</a:t>
            </a:r>
            <a:endParaRPr lang="en-MY" altLang="zh-TW" sz="2400" b="0" dirty="0">
              <a:solidFill>
                <a:srgbClr val="29292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3357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9D1D4D-74DA-4E82-A86F-8C26D10E79E6}"/>
              </a:ext>
            </a:extLst>
          </p:cNvPr>
          <p:cNvSpPr txBox="1"/>
          <p:nvPr/>
        </p:nvSpPr>
        <p:spPr>
          <a:xfrm>
            <a:off x="107244" y="58544"/>
            <a:ext cx="6859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1) Objective &amp; Introduction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7244" y="773299"/>
            <a:ext cx="8837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endParaRPr lang="en-US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FA21287-2055-47ED-B2C1-E1AC56DE437F}"/>
              </a:ext>
            </a:extLst>
          </p:cNvPr>
          <p:cNvSpPr txBox="1"/>
          <p:nvPr/>
        </p:nvSpPr>
        <p:spPr>
          <a:xfrm>
            <a:off x="107244" y="773299"/>
            <a:ext cx="68591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Training Objective </a:t>
            </a:r>
            <a:r>
              <a:rPr lang="en-MY" sz="2400" b="1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:</a:t>
            </a:r>
          </a:p>
          <a:p>
            <a:endParaRPr lang="en-MY" sz="2400" b="1" dirty="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MY" sz="24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The process of </a:t>
            </a:r>
            <a:r>
              <a:rPr lang="en-MY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coating slurry </a:t>
            </a:r>
            <a:r>
              <a:rPr lang="en-MY" sz="24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into the </a:t>
            </a:r>
            <a:r>
              <a:rPr lang="en-MY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PET film </a:t>
            </a:r>
            <a:r>
              <a:rPr lang="en-MY" sz="24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to produce thin layer of ceramic sheet known as ‘</a:t>
            </a:r>
            <a:r>
              <a:rPr lang="en-MY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green sheet</a:t>
            </a:r>
            <a:r>
              <a:rPr lang="en-MY" sz="24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’.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FC42770-E4C8-4881-AEBC-4763E9194C7F}"/>
              </a:ext>
            </a:extLst>
          </p:cNvPr>
          <p:cNvSpPr txBox="1"/>
          <p:nvPr/>
        </p:nvSpPr>
        <p:spPr>
          <a:xfrm>
            <a:off x="198684" y="3429000"/>
            <a:ext cx="68591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Process Overview</a:t>
            </a:r>
            <a:r>
              <a:rPr lang="en-MY" sz="2400" b="1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:</a:t>
            </a:r>
          </a:p>
          <a:p>
            <a:endParaRPr lang="en-MY" sz="2400" dirty="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>
              <a:buAutoNum type="arabicPeriod"/>
            </a:pPr>
            <a:r>
              <a:rPr lang="en-MY" sz="2400" dirty="0" err="1" smtClean="0">
                <a:latin typeface="Meiryo UI" panose="020B0604030504040204" pitchFamily="50" charset="-128"/>
                <a:ea typeface="Meiryo UI" panose="020B0604030504040204" pitchFamily="50" charset="-128"/>
              </a:rPr>
              <a:t>Tokou</a:t>
            </a:r>
            <a:r>
              <a:rPr lang="en-MY" sz="24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 process flow.</a:t>
            </a:r>
          </a:p>
          <a:p>
            <a:pPr marL="457200" indent="-457200">
              <a:buAutoNum type="arabicPeriod"/>
            </a:pPr>
            <a:r>
              <a:rPr lang="en-MY" sz="24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Material and machine.</a:t>
            </a:r>
          </a:p>
          <a:p>
            <a:pPr marL="457200" indent="-457200">
              <a:buAutoNum type="arabicPeriod"/>
            </a:pPr>
            <a:r>
              <a:rPr lang="en-MY" sz="24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Safety precaution and procedure. </a:t>
            </a:r>
          </a:p>
          <a:p>
            <a:endParaRPr lang="en-MY" sz="2400" b="1" dirty="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>
              <a:buAutoNum type="arabicPeriod"/>
            </a:pPr>
            <a:endParaRPr lang="en-MY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8339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9D1D4D-74DA-4E82-A86F-8C26D10E79E6}"/>
              </a:ext>
            </a:extLst>
          </p:cNvPr>
          <p:cNvSpPr txBox="1"/>
          <p:nvPr/>
        </p:nvSpPr>
        <p:spPr>
          <a:xfrm>
            <a:off x="107244" y="58544"/>
            <a:ext cx="6859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2) Process Flow: Step by Step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96601" y="746576"/>
            <a:ext cx="8789743" cy="5895961"/>
            <a:chOff x="-2858812" y="520209"/>
            <a:chExt cx="13673956" cy="6311505"/>
          </a:xfrm>
        </p:grpSpPr>
        <p:grpSp>
          <p:nvGrpSpPr>
            <p:cNvPr id="23" name="Group 22"/>
            <p:cNvGrpSpPr/>
            <p:nvPr/>
          </p:nvGrpSpPr>
          <p:grpSpPr>
            <a:xfrm>
              <a:off x="-2858812" y="520209"/>
              <a:ext cx="9560511" cy="3857160"/>
              <a:chOff x="-2753709" y="520209"/>
              <a:chExt cx="9560511" cy="385716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246995" y="2159822"/>
                <a:ext cx="2706412" cy="6150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 TOKOU PARAMETER SETTING</a:t>
                </a:r>
                <a:endParaRPr lang="en-US" sz="1400" dirty="0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-2753709" y="520209"/>
                <a:ext cx="2706412" cy="6150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SLURRY (HAIGO)</a:t>
                </a:r>
                <a:endParaRPr lang="en-US" dirty="0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-1479818" y="1329288"/>
                <a:ext cx="2706412" cy="6150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TANK &amp; DIE COATER</a:t>
                </a:r>
                <a:endParaRPr lang="en-US" dirty="0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490954" y="2969064"/>
                <a:ext cx="2706412" cy="6150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COATING</a:t>
                </a:r>
                <a:endParaRPr lang="en-US" dirty="0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4100390" y="3762351"/>
                <a:ext cx="2706412" cy="6150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DRYING</a:t>
                </a:r>
                <a:endParaRPr lang="en-US" dirty="0"/>
              </a:p>
            </p:txBody>
          </p:sp>
        </p:grpSp>
        <p:sp>
          <p:nvSpPr>
            <p:cNvPr id="24" name="Rectangle 23"/>
            <p:cNvSpPr/>
            <p:nvPr/>
          </p:nvSpPr>
          <p:spPr>
            <a:xfrm>
              <a:off x="5402320" y="4555638"/>
              <a:ext cx="2706412" cy="61501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GREEN SHEET</a:t>
              </a:r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701699" y="5386167"/>
              <a:ext cx="2706412" cy="61501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INSPECTION</a:t>
              </a:r>
              <a:endParaRPr lang="en-US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108732" y="6216696"/>
              <a:ext cx="2706412" cy="61501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WRAP ROLL</a:t>
              </a:r>
              <a:endParaRPr lang="en-US" dirty="0"/>
            </a:p>
          </p:txBody>
        </p:sp>
      </p:grpSp>
      <p:cxnSp>
        <p:nvCxnSpPr>
          <p:cNvPr id="29" name="Elbow Connector 28"/>
          <p:cNvCxnSpPr>
            <a:endCxn id="20" idx="1"/>
          </p:cNvCxnSpPr>
          <p:nvPr/>
        </p:nvCxnSpPr>
        <p:spPr>
          <a:xfrm rot="16200000" flipH="1">
            <a:off x="552862" y="1327040"/>
            <a:ext cx="468547" cy="456670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rot="16200000" flipH="1">
            <a:off x="1651050" y="2074944"/>
            <a:ext cx="468547" cy="456670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Elbow Connector 30"/>
          <p:cNvCxnSpPr/>
          <p:nvPr/>
        </p:nvCxnSpPr>
        <p:spPr>
          <a:xfrm rot="16200000" flipH="1">
            <a:off x="3099399" y="2858856"/>
            <a:ext cx="468547" cy="456670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Elbow Connector 31"/>
          <p:cNvCxnSpPr/>
          <p:nvPr/>
        </p:nvCxnSpPr>
        <p:spPr>
          <a:xfrm rot="16200000" flipH="1">
            <a:off x="4136915" y="3614865"/>
            <a:ext cx="468547" cy="456670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Elbow Connector 32"/>
          <p:cNvCxnSpPr/>
          <p:nvPr/>
        </p:nvCxnSpPr>
        <p:spPr>
          <a:xfrm rot="16200000" flipH="1">
            <a:off x="5044323" y="4355723"/>
            <a:ext cx="468547" cy="456670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Elbow Connector 33"/>
          <p:cNvCxnSpPr/>
          <p:nvPr/>
        </p:nvCxnSpPr>
        <p:spPr>
          <a:xfrm rot="16200000" flipH="1">
            <a:off x="5879575" y="5096781"/>
            <a:ext cx="468547" cy="456670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Elbow Connector 34"/>
          <p:cNvCxnSpPr/>
          <p:nvPr/>
        </p:nvCxnSpPr>
        <p:spPr>
          <a:xfrm rot="16200000" flipH="1">
            <a:off x="6784030" y="5872629"/>
            <a:ext cx="468547" cy="456670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027854" y="1502386"/>
            <a:ext cx="1739706" cy="5745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PET FILM</a:t>
            </a:r>
            <a:endParaRPr lang="en-US" dirty="0"/>
          </a:p>
        </p:txBody>
      </p:sp>
      <p:cxnSp>
        <p:nvCxnSpPr>
          <p:cNvPr id="39" name="Elbow Connector 38"/>
          <p:cNvCxnSpPr>
            <a:stCxn id="38" idx="2"/>
          </p:cNvCxnSpPr>
          <p:nvPr/>
        </p:nvCxnSpPr>
        <p:spPr>
          <a:xfrm rot="5400000">
            <a:off x="4137153" y="1804948"/>
            <a:ext cx="488591" cy="1032519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9613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9D1D4D-74DA-4E82-A86F-8C26D10E79E6}"/>
              </a:ext>
            </a:extLst>
          </p:cNvPr>
          <p:cNvSpPr txBox="1"/>
          <p:nvPr/>
        </p:nvSpPr>
        <p:spPr>
          <a:xfrm>
            <a:off x="107244" y="58544"/>
            <a:ext cx="6859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2) Process Flow: Step by Step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540745"/>
              </p:ext>
            </p:extLst>
          </p:nvPr>
        </p:nvGraphicFramePr>
        <p:xfrm>
          <a:off x="107244" y="671789"/>
          <a:ext cx="8837059" cy="5699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37059"/>
              </a:tblGrid>
              <a:tr h="296777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600" dirty="0" smtClean="0">
                          <a:ea typeface="Meiryo UI" panose="020B0604030504040204"/>
                        </a:rPr>
                        <a:t>TOKOU</a:t>
                      </a:r>
                    </a:p>
                  </a:txBody>
                  <a:tcPr/>
                </a:tc>
              </a:tr>
              <a:tr h="519361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dirty="0" smtClean="0">
                          <a:ea typeface="Meiryo UI" panose="020B0604030504040204"/>
                        </a:rPr>
                        <a:t>Slurry (HAIGO)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 smtClean="0">
                          <a:ea typeface="Meiryo UI" panose="020B0604030504040204"/>
                        </a:rPr>
                        <a:t> Receive slurry from </a:t>
                      </a:r>
                      <a:r>
                        <a:rPr lang="en-US" sz="1600" baseline="0" dirty="0" err="1" smtClean="0">
                          <a:ea typeface="Meiryo UI" panose="020B0604030504040204"/>
                        </a:rPr>
                        <a:t>Haigo</a:t>
                      </a:r>
                      <a:r>
                        <a:rPr lang="en-US" sz="1600" baseline="0" dirty="0" smtClean="0">
                          <a:ea typeface="Meiryo UI" panose="020B0604030504040204"/>
                        </a:rPr>
                        <a:t> in </a:t>
                      </a:r>
                      <a:r>
                        <a:rPr lang="en-US" sz="1600" baseline="0" dirty="0" err="1" smtClean="0">
                          <a:ea typeface="Meiryo UI" panose="020B0604030504040204"/>
                        </a:rPr>
                        <a:t>Tokou</a:t>
                      </a:r>
                      <a:r>
                        <a:rPr lang="en-US" sz="1600" baseline="0" dirty="0" smtClean="0">
                          <a:ea typeface="Meiryo UI" panose="020B0604030504040204"/>
                        </a:rPr>
                        <a:t> tank.</a:t>
                      </a:r>
                    </a:p>
                  </a:txBody>
                  <a:tcPr/>
                </a:tc>
              </a:tr>
              <a:tr h="741944">
                <a:tc>
                  <a:txBody>
                    <a:bodyPr/>
                    <a:lstStyle/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sz="1600" b="1" baseline="0" dirty="0" smtClean="0">
                          <a:ea typeface="Meiryo UI" panose="020B0604030504040204"/>
                        </a:rPr>
                        <a:t>Slurry Tank, Die Coater and PET Film</a:t>
                      </a:r>
                    </a:p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smtClean="0">
                          <a:ea typeface="Meiryo UI" panose="020B0604030504040204"/>
                        </a:rPr>
                        <a:t>Preparation</a:t>
                      </a:r>
                      <a:r>
                        <a:rPr lang="en-US" sz="1600" baseline="0" dirty="0" smtClean="0">
                          <a:ea typeface="Meiryo UI" panose="020B0604030504040204"/>
                        </a:rPr>
                        <a:t> of tank die coater and connector.</a:t>
                      </a:r>
                    </a:p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aseline="0" dirty="0" smtClean="0">
                          <a:ea typeface="Meiryo UI" panose="020B0604030504040204"/>
                        </a:rPr>
                        <a:t>Ex : slurry, die coater, filter, PET Film.</a:t>
                      </a:r>
                      <a:endParaRPr lang="en-US" sz="1600" dirty="0" smtClean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519361">
                <a:tc>
                  <a:txBody>
                    <a:bodyPr/>
                    <a:lstStyle/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sz="1600" b="1" dirty="0" err="1" smtClean="0">
                          <a:ea typeface="Meiryo UI" panose="020B0604030504040204"/>
                        </a:rPr>
                        <a:t>Tokou</a:t>
                      </a:r>
                      <a:r>
                        <a:rPr lang="en-US" sz="1600" b="1" dirty="0" smtClean="0">
                          <a:ea typeface="Meiryo UI" panose="020B0604030504040204"/>
                        </a:rPr>
                        <a:t> Parameter Setting</a:t>
                      </a:r>
                    </a:p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smtClean="0">
                          <a:ea typeface="Meiryo UI" panose="020B0604030504040204"/>
                        </a:rPr>
                        <a:t>Machine preparation.</a:t>
                      </a:r>
                      <a:r>
                        <a:rPr lang="en-US" sz="1600" baseline="0" dirty="0" smtClean="0">
                          <a:ea typeface="Meiryo UI" panose="020B0604030504040204"/>
                        </a:rPr>
                        <a:t> (5 zone/Super high grade 5 zone)</a:t>
                      </a:r>
                      <a:endParaRPr lang="en-US" sz="1600" dirty="0" smtClean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741944">
                <a:tc>
                  <a:txBody>
                    <a:bodyPr/>
                    <a:lstStyle/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sz="1600" b="1" dirty="0" smtClean="0">
                          <a:ea typeface="Meiryo UI" panose="020B0604030504040204"/>
                        </a:rPr>
                        <a:t>Coating</a:t>
                      </a:r>
                    </a:p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smtClean="0">
                          <a:ea typeface="Meiryo UI" panose="020B0604030504040204"/>
                        </a:rPr>
                        <a:t>Test coating for roll. </a:t>
                      </a:r>
                    </a:p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smtClean="0">
                          <a:ea typeface="Meiryo UI" panose="020B0604030504040204"/>
                        </a:rPr>
                        <a:t>Coating sheet adjustment. </a:t>
                      </a:r>
                    </a:p>
                  </a:txBody>
                  <a:tcPr/>
                </a:tc>
              </a:tr>
              <a:tr h="519361">
                <a:tc>
                  <a:txBody>
                    <a:bodyPr/>
                    <a:lstStyle/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n-US" sz="1600" b="1" dirty="0" smtClean="0">
                          <a:ea typeface="Meiryo UI" panose="020B0604030504040204"/>
                        </a:rPr>
                        <a:t>Drying</a:t>
                      </a:r>
                    </a:p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smtClean="0">
                          <a:ea typeface="Meiryo UI" panose="020B0604030504040204"/>
                        </a:rPr>
                        <a:t>Setting parameter</a:t>
                      </a:r>
                      <a:r>
                        <a:rPr lang="en-US" sz="1600" baseline="0" dirty="0" smtClean="0">
                          <a:ea typeface="Meiryo UI" panose="020B0604030504040204"/>
                        </a:rPr>
                        <a:t> humidifier machine.</a:t>
                      </a:r>
                      <a:r>
                        <a:rPr lang="en-US" sz="1600" dirty="0" smtClean="0">
                          <a:ea typeface="Meiryo UI" panose="020B0604030504040204"/>
                        </a:rPr>
                        <a:t> </a:t>
                      </a:r>
                    </a:p>
                  </a:txBody>
                  <a:tcPr/>
                </a:tc>
              </a:tr>
              <a:tr h="519361">
                <a:tc>
                  <a:txBody>
                    <a:bodyPr/>
                    <a:lstStyle/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6"/>
                        <a:tabLst/>
                        <a:defRPr/>
                      </a:pPr>
                      <a:r>
                        <a:rPr lang="en-US" sz="1600" b="1" dirty="0" smtClean="0">
                          <a:ea typeface="Meiryo UI" panose="020B0604030504040204"/>
                        </a:rPr>
                        <a:t>Green Sheet</a:t>
                      </a:r>
                    </a:p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smtClean="0">
                          <a:ea typeface="Meiryo UI" panose="020B0604030504040204"/>
                        </a:rPr>
                        <a:t>Setting </a:t>
                      </a:r>
                      <a:r>
                        <a:rPr lang="en-US" sz="1600" dirty="0" err="1" smtClean="0">
                          <a:ea typeface="Meiryo UI" panose="020B0604030504040204"/>
                        </a:rPr>
                        <a:t>futec</a:t>
                      </a:r>
                      <a:r>
                        <a:rPr lang="en-US" sz="1600" baseline="0" dirty="0" smtClean="0">
                          <a:ea typeface="Meiryo UI" panose="020B0604030504040204"/>
                        </a:rPr>
                        <a:t> machine.</a:t>
                      </a:r>
                      <a:r>
                        <a:rPr lang="en-US" sz="1600" dirty="0" smtClean="0">
                          <a:ea typeface="Meiryo UI" panose="020B0604030504040204"/>
                        </a:rPr>
                        <a:t> </a:t>
                      </a:r>
                    </a:p>
                  </a:txBody>
                  <a:tcPr/>
                </a:tc>
              </a:tr>
              <a:tr h="519361">
                <a:tc>
                  <a:txBody>
                    <a:bodyPr/>
                    <a:lstStyle/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lang="en-US" sz="1600" b="1" dirty="0" smtClean="0">
                          <a:ea typeface="Meiryo UI" panose="020B0604030504040204"/>
                        </a:rPr>
                        <a:t>Inspection</a:t>
                      </a:r>
                    </a:p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smtClean="0">
                          <a:ea typeface="Meiryo UI" panose="020B0604030504040204"/>
                        </a:rPr>
                        <a:t>Test for green sheet</a:t>
                      </a:r>
                      <a:r>
                        <a:rPr lang="en-US" sz="1600" baseline="0" dirty="0" smtClean="0">
                          <a:ea typeface="Meiryo UI" panose="020B0604030504040204"/>
                        </a:rPr>
                        <a:t> weight and thickness.</a:t>
                      </a:r>
                      <a:endParaRPr lang="en-US" sz="1600" dirty="0" smtClean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741944">
                <a:tc>
                  <a:txBody>
                    <a:bodyPr/>
                    <a:lstStyle/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8"/>
                        <a:tabLst/>
                        <a:defRPr/>
                      </a:pPr>
                      <a:r>
                        <a:rPr lang="en-US" sz="1600" b="1" dirty="0" smtClean="0">
                          <a:ea typeface="Meiryo UI" panose="020B0604030504040204"/>
                        </a:rPr>
                        <a:t>Wrap</a:t>
                      </a:r>
                      <a:r>
                        <a:rPr lang="en-US" sz="1600" b="1" baseline="0" dirty="0" smtClean="0">
                          <a:ea typeface="Meiryo UI" panose="020B0604030504040204"/>
                        </a:rPr>
                        <a:t> roll</a:t>
                      </a:r>
                    </a:p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aseline="0" dirty="0" smtClean="0">
                          <a:ea typeface="Meiryo UI" panose="020B0604030504040204"/>
                        </a:rPr>
                        <a:t>Wrap roll and make indication.</a:t>
                      </a:r>
                    </a:p>
                    <a:p>
                      <a:pPr marL="342900" marR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aseline="0" dirty="0" smtClean="0">
                          <a:ea typeface="Meiryo UI" panose="020B0604030504040204"/>
                        </a:rPr>
                        <a:t>Keep roll at rack.</a:t>
                      </a:r>
                      <a:endParaRPr lang="en-US" sz="1600" dirty="0" smtClean="0">
                        <a:ea typeface="Meiryo UI" panose="020B060403050404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7594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9D1D4D-74DA-4E82-A86F-8C26D10E79E6}"/>
              </a:ext>
            </a:extLst>
          </p:cNvPr>
          <p:cNvSpPr txBox="1"/>
          <p:nvPr/>
        </p:nvSpPr>
        <p:spPr>
          <a:xfrm>
            <a:off x="107244" y="58544"/>
            <a:ext cx="6859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2) Process Flow: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645CE097-0A54-4064-866D-C1E9C53572E9}"/>
              </a:ext>
            </a:extLst>
          </p:cNvPr>
          <p:cNvSpPr txBox="1"/>
          <p:nvPr/>
        </p:nvSpPr>
        <p:spPr>
          <a:xfrm>
            <a:off x="107244" y="685339"/>
            <a:ext cx="68591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a)Raw </a:t>
            </a:r>
            <a:r>
              <a:rPr lang="en-MY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Material </a:t>
            </a:r>
            <a:r>
              <a:rPr lang="en-MY" sz="2400" b="1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MY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Slurry</a:t>
            </a:r>
            <a:endParaRPr lang="en-MY" dirty="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MY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PET Film</a:t>
            </a:r>
          </a:p>
          <a:p>
            <a:r>
              <a:rPr lang="en-MY" sz="2400" b="1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MY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DF0F493-8564-4B68-8875-49F21C897AF2}"/>
              </a:ext>
            </a:extLst>
          </p:cNvPr>
          <p:cNvSpPr txBox="1"/>
          <p:nvPr/>
        </p:nvSpPr>
        <p:spPr>
          <a:xfrm>
            <a:off x="107244" y="1720789"/>
            <a:ext cx="6859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b)</a:t>
            </a:r>
            <a:endParaRPr lang="en-MY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45C06F7-6AA9-4FDE-86E5-0AE2907B859C}"/>
              </a:ext>
            </a:extLst>
          </p:cNvPr>
          <p:cNvSpPr txBox="1"/>
          <p:nvPr/>
        </p:nvSpPr>
        <p:spPr>
          <a:xfrm>
            <a:off x="107244" y="4439567"/>
            <a:ext cx="68591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c)Inspection Equipment / Tools</a:t>
            </a:r>
            <a:r>
              <a:rPr lang="en-MY" sz="2400" b="1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MY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Electric </a:t>
            </a:r>
            <a:r>
              <a:rPr lang="en-MY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Scale – Measure density</a:t>
            </a:r>
            <a:endParaRPr lang="en-MY" dirty="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MY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Film thickness </a:t>
            </a:r>
            <a:r>
              <a:rPr lang="en-MY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meter – Measure Thickness</a:t>
            </a:r>
            <a:endParaRPr lang="en-MY" dirty="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MY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Hybrid </a:t>
            </a:r>
            <a:r>
              <a:rPr lang="en-MY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anemometer -</a:t>
            </a:r>
            <a:endParaRPr lang="en-MY" dirty="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MY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X-ray thickness </a:t>
            </a:r>
            <a:r>
              <a:rPr lang="en-MY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gauge – Measure Thickness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937330"/>
              </p:ext>
            </p:extLst>
          </p:nvPr>
        </p:nvGraphicFramePr>
        <p:xfrm>
          <a:off x="563553" y="1798133"/>
          <a:ext cx="6096000" cy="2661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Equipment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Machines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Die coating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5 </a:t>
                      </a:r>
                      <a:r>
                        <a:rPr lang="en-US" sz="1800" dirty="0" smtClean="0">
                          <a:ea typeface="Meiryo UI" panose="020B0604030504040204"/>
                        </a:rPr>
                        <a:t>Zone (F6)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ea typeface="Meiryo UI" panose="020B0604030504040204"/>
                        </a:rPr>
                        <a:t>Futec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Super High Grade 5</a:t>
                      </a:r>
                      <a:r>
                        <a:rPr lang="en-US" sz="1800" baseline="0" dirty="0" smtClean="0">
                          <a:ea typeface="Meiryo UI" panose="020B0604030504040204"/>
                        </a:rPr>
                        <a:t> </a:t>
                      </a:r>
                      <a:r>
                        <a:rPr lang="en-US" sz="1800" baseline="0" dirty="0" smtClean="0">
                          <a:ea typeface="Meiryo UI" panose="020B0604030504040204"/>
                        </a:rPr>
                        <a:t>Zone (F4)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Gear pump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High Grade 8 Zone (Normal Type</a:t>
                      </a:r>
                      <a:r>
                        <a:rPr lang="en-US" sz="1800" dirty="0" smtClean="0">
                          <a:ea typeface="Meiryo UI" panose="020B0604030504040204"/>
                        </a:rPr>
                        <a:t>) (A1)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High Grade</a:t>
                      </a:r>
                      <a:r>
                        <a:rPr lang="en-US" sz="1800" baseline="0" dirty="0" smtClean="0">
                          <a:ea typeface="Meiryo UI" panose="020B0604030504040204"/>
                        </a:rPr>
                        <a:t> 8 Zone (Wide Type</a:t>
                      </a:r>
                      <a:r>
                        <a:rPr lang="en-US" sz="1800" baseline="0" dirty="0" smtClean="0">
                          <a:ea typeface="Meiryo UI" panose="020B0604030504040204"/>
                        </a:rPr>
                        <a:t>) (A1)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2244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9D1D4D-74DA-4E82-A86F-8C26D10E79E6}"/>
              </a:ext>
            </a:extLst>
          </p:cNvPr>
          <p:cNvSpPr txBox="1"/>
          <p:nvPr/>
        </p:nvSpPr>
        <p:spPr>
          <a:xfrm>
            <a:off x="107244" y="58544"/>
            <a:ext cx="6859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3) Key Learning &amp; Observation: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365BC77-DEAC-47F3-9957-D9E808499BD9}"/>
              </a:ext>
            </a:extLst>
          </p:cNvPr>
          <p:cNvSpPr txBox="1"/>
          <p:nvPr/>
        </p:nvSpPr>
        <p:spPr>
          <a:xfrm>
            <a:off x="107244" y="520209"/>
            <a:ext cx="6859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43092CC-A2C6-4E66-A146-77DF8A145FFB}"/>
              </a:ext>
            </a:extLst>
          </p:cNvPr>
          <p:cNvSpPr txBox="1"/>
          <p:nvPr/>
        </p:nvSpPr>
        <p:spPr>
          <a:xfrm>
            <a:off x="275586" y="3268872"/>
            <a:ext cx="68591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b)Environment Related</a:t>
            </a:r>
            <a:r>
              <a:rPr lang="en-MY" sz="2400" b="1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MY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Schedule waist only for chemical product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MY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Operation environment 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747753"/>
              </p:ext>
            </p:extLst>
          </p:nvPr>
        </p:nvGraphicFramePr>
        <p:xfrm>
          <a:off x="609996" y="698392"/>
          <a:ext cx="6096000" cy="2570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Safety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Description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PPE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Safety glove,</a:t>
                      </a:r>
                      <a:r>
                        <a:rPr lang="en-US" sz="1800" baseline="0" dirty="0" smtClean="0">
                          <a:ea typeface="Meiryo UI" panose="020B0604030504040204"/>
                        </a:rPr>
                        <a:t> charcoal mask, hand glove, safety helmet, anti-fog spray, resistant glove.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SDS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CEA-H136 (5S)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WOI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D23MLMCMA32-AX01</a:t>
                      </a:r>
                    </a:p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OI : MLCCMS00000833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958236"/>
              </p:ext>
            </p:extLst>
          </p:nvPr>
        </p:nvGraphicFramePr>
        <p:xfrm>
          <a:off x="675893" y="4284535"/>
          <a:ext cx="6096000" cy="212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Environment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Description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Room temperature (°C)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23±7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Room humidity (%)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65±1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Room</a:t>
                      </a:r>
                      <a:r>
                        <a:rPr lang="en-US" sz="1800" baseline="0" dirty="0" smtClean="0">
                          <a:ea typeface="Meiryo UI" panose="020B0604030504040204"/>
                        </a:rPr>
                        <a:t> ventilation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Inside local exhaust</a:t>
                      </a:r>
                      <a:r>
                        <a:rPr lang="en-US" sz="1800" baseline="0" dirty="0" smtClean="0">
                          <a:ea typeface="Meiryo UI" panose="020B0604030504040204"/>
                        </a:rPr>
                        <a:t> duct wind speed ≥ 5 m/sec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Degree of cleanliness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3000 &amp; below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4428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9D1D4D-74DA-4E82-A86F-8C26D10E79E6}"/>
              </a:ext>
            </a:extLst>
          </p:cNvPr>
          <p:cNvSpPr txBox="1"/>
          <p:nvPr/>
        </p:nvSpPr>
        <p:spPr>
          <a:xfrm>
            <a:off x="107244" y="58544"/>
            <a:ext cx="6859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3) Key Learning &amp; Observation: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DF42FE6B-DDC0-41DF-B755-D855CA368B29}"/>
                  </a:ext>
                </a:extLst>
              </p:cNvPr>
              <p:cNvSpPr txBox="1"/>
              <p:nvPr/>
            </p:nvSpPr>
            <p:spPr>
              <a:xfrm>
                <a:off x="208844" y="620363"/>
                <a:ext cx="6859164" cy="2536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MY" sz="2400" b="1" dirty="0" smtClean="0">
                    <a:latin typeface="Meiryo UI" panose="020B0604030504040204" pitchFamily="50" charset="-128"/>
                    <a:ea typeface="Meiryo UI" panose="020B0604030504040204" pitchFamily="50" charset="-128"/>
                  </a:rPr>
                  <a:t>c)Product Related: (MLCC)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MY" dirty="0" smtClean="0">
                    <a:latin typeface="Meiryo UI" panose="020B0604030504040204" pitchFamily="50" charset="-128"/>
                    <a:ea typeface="Meiryo UI" panose="020B0604030504040204"/>
                  </a:rPr>
                  <a:t>Effect to capacitor formula :</a:t>
                </a:r>
                <a:endParaRPr lang="en-US" i="1" dirty="0" smtClean="0">
                  <a:latin typeface="Cambria Math" panose="02040503050406030204" pitchFamily="18" charset="0"/>
                  <a:ea typeface="Meiryo UI" panose="020B0604030504040204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∁=</m:t>
                      </m:r>
                      <m:f>
                        <m:fPr>
                          <m:ctrlPr>
                            <a:rPr lang="en-MY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Y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den>
                      </m:f>
                    </m:oMath>
                  </m:oMathPara>
                </a14:m>
                <a:endParaRPr lang="en-MY" b="1" dirty="0" smtClean="0">
                  <a:latin typeface="Meiryo UI" panose="020B0604030504040204" pitchFamily="50" charset="-128"/>
                  <a:ea typeface="Meiryo UI" panose="020B060403050404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MY" dirty="0" smtClean="0">
                    <a:latin typeface="Meiryo UI" panose="020B0604030504040204" pitchFamily="50" charset="-128"/>
                    <a:ea typeface="Meiryo UI" panose="020B0604030504040204"/>
                  </a:rPr>
                  <a:t>“</a:t>
                </a:r>
                <a:r>
                  <a:rPr lang="en-MY" b="1" dirty="0" smtClean="0">
                    <a:latin typeface="Meiryo UI" panose="020B0604030504040204" pitchFamily="50" charset="-128"/>
                    <a:ea typeface="Meiryo UI" panose="020B0604030504040204"/>
                  </a:rPr>
                  <a:t>d</a:t>
                </a:r>
                <a:r>
                  <a:rPr lang="en-MY" dirty="0" smtClean="0">
                    <a:latin typeface="Meiryo UI" panose="020B0604030504040204" pitchFamily="50" charset="-128"/>
                    <a:ea typeface="Meiryo UI" panose="020B0604030504040204"/>
                  </a:rPr>
                  <a:t>” – </a:t>
                </a:r>
                <a:r>
                  <a:rPr lang="en-MY" dirty="0" err="1" smtClean="0">
                    <a:latin typeface="Meiryo UI" panose="020B0604030504040204" pitchFamily="50" charset="-128"/>
                    <a:ea typeface="Meiryo UI" panose="020B0604030504040204"/>
                  </a:rPr>
                  <a:t>Tokou</a:t>
                </a:r>
                <a:r>
                  <a:rPr lang="en-MY" dirty="0" smtClean="0">
                    <a:latin typeface="Meiryo UI" panose="020B0604030504040204" pitchFamily="50" charset="-128"/>
                    <a:ea typeface="Meiryo UI" panose="020B0604030504040204"/>
                  </a:rPr>
                  <a:t> Sheet Thickness</a:t>
                </a:r>
                <a:endParaRPr lang="en-MY" dirty="0" smtClean="0">
                  <a:latin typeface="Meiryo UI" panose="020B0604030504040204" pitchFamily="50" charset="-128"/>
                  <a:ea typeface="Meiryo UI" panose="020B060403050404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MY" dirty="0" smtClean="0">
                    <a:latin typeface="Meiryo UI" panose="020B0604030504040204" pitchFamily="50" charset="-128"/>
                    <a:ea typeface="Meiryo UI" panose="020B0604030504040204"/>
                  </a:rPr>
                  <a:t>Smaller “</a:t>
                </a:r>
                <a:r>
                  <a:rPr lang="en-MY" b="1" dirty="0" smtClean="0">
                    <a:latin typeface="Meiryo UI" panose="020B0604030504040204" pitchFamily="50" charset="-128"/>
                    <a:ea typeface="Meiryo UI" panose="020B0604030504040204"/>
                  </a:rPr>
                  <a:t>d</a:t>
                </a:r>
                <a:r>
                  <a:rPr lang="en-MY" dirty="0" smtClean="0">
                    <a:latin typeface="Meiryo UI" panose="020B0604030504040204" pitchFamily="50" charset="-128"/>
                    <a:ea typeface="Meiryo UI" panose="020B0604030504040204"/>
                  </a:rPr>
                  <a:t>” higher capacitance.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MY" dirty="0" smtClean="0">
                    <a:latin typeface="Meiryo UI" panose="020B0604030504040204" pitchFamily="50" charset="-128"/>
                    <a:ea typeface="Meiryo UI" panose="020B0604030504040204"/>
                  </a:rPr>
                  <a:t>Quantity related 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MY" sz="2400" b="1" dirty="0" smtClean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F42FE6B-DDC0-41DF-B755-D855CA368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44" y="620363"/>
                <a:ext cx="6859164" cy="2536272"/>
              </a:xfrm>
              <a:prstGeom prst="rect">
                <a:avLst/>
              </a:prstGeom>
              <a:blipFill rotWithShape="0">
                <a:blip r:embed="rId3"/>
                <a:stretch>
                  <a:fillRect l="-1333"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615002"/>
              </p:ext>
            </p:extLst>
          </p:nvPr>
        </p:nvGraphicFramePr>
        <p:xfrm>
          <a:off x="347896" y="2783865"/>
          <a:ext cx="4935304" cy="3114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645"/>
                <a:gridCol w="1688645"/>
                <a:gridCol w="155801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NG</a:t>
                      </a:r>
                      <a:r>
                        <a:rPr lang="en-US" sz="1800" baseline="0" dirty="0" smtClean="0">
                          <a:ea typeface="Meiryo UI" panose="020B0604030504040204"/>
                        </a:rPr>
                        <a:t> Mode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Cause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Prevention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Pinhole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Foreign leftover</a:t>
                      </a:r>
                      <a:r>
                        <a:rPr lang="en-US" sz="1800" baseline="0" dirty="0" smtClean="0">
                          <a:ea typeface="Meiryo UI" panose="020B0604030504040204"/>
                        </a:rPr>
                        <a:t> at the roller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Clean the roller</a:t>
                      </a:r>
                      <a:r>
                        <a:rPr lang="en-US" sz="1800" baseline="0" dirty="0" smtClean="0">
                          <a:ea typeface="Meiryo UI" panose="020B0604030504040204"/>
                        </a:rPr>
                        <a:t> properly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Clear line 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Foreign material inside 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Clean room control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ea typeface="Meiryo UI" panose="020B0604030504040204"/>
                        </a:rPr>
                        <a:t>Hajiki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Die</a:t>
                      </a:r>
                      <a:r>
                        <a:rPr lang="en-US" sz="1800" baseline="0" dirty="0" smtClean="0">
                          <a:ea typeface="Meiryo UI" panose="020B0604030504040204"/>
                        </a:rPr>
                        <a:t> coating clean not properly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a typeface="Meiryo UI" panose="020B0604030504040204"/>
                        </a:rPr>
                        <a:t>Clean a die coating with </a:t>
                      </a:r>
                      <a:r>
                        <a:rPr lang="en-US" sz="1800" dirty="0" err="1" smtClean="0">
                          <a:ea typeface="Meiryo UI" panose="020B0604030504040204"/>
                        </a:rPr>
                        <a:t>solemix</a:t>
                      </a:r>
                      <a:r>
                        <a:rPr lang="en-US" sz="1800" dirty="0" smtClean="0">
                          <a:ea typeface="Meiryo UI" panose="020B0604030504040204"/>
                        </a:rPr>
                        <a:t> ap-17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940105"/>
              </p:ext>
            </p:extLst>
          </p:nvPr>
        </p:nvGraphicFramePr>
        <p:xfrm>
          <a:off x="5370285" y="2772227"/>
          <a:ext cx="3643088" cy="3383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21544"/>
                <a:gridCol w="1821544"/>
              </a:tblGrid>
              <a:tr h="29899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Haigou→Tokou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Good Slurry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/>
                        <a:t>Less</a:t>
                      </a:r>
                      <a:r>
                        <a:rPr lang="en-US" sz="1800" baseline="0" dirty="0" smtClean="0"/>
                        <a:t> than 4 hour.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Good Slurry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/>
                        <a:t>More than 4 hour.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/>
                        <a:t>Must</a:t>
                      </a:r>
                      <a:r>
                        <a:rPr lang="en-US" sz="1800" baseline="0" dirty="0" smtClean="0"/>
                        <a:t> re-</a:t>
                      </a:r>
                      <a:r>
                        <a:rPr lang="en-US" sz="1800" baseline="0" dirty="0" err="1" smtClean="0"/>
                        <a:t>Despa</a:t>
                      </a:r>
                      <a:r>
                        <a:rPr lang="en-US" sz="1800" baseline="0" dirty="0" smtClean="0"/>
                        <a:t> to use again.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NG Slurry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/>
                        <a:t>More than 48 hour.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/>
                        <a:t>Issue NCIS.</a:t>
                      </a:r>
                      <a:endParaRPr lang="en-US" sz="1800" dirty="0">
                        <a:ea typeface="Meiryo UI" panose="020B060403050404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3521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49432" y="2917370"/>
            <a:ext cx="74588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Meiryo UI"/>
              </a:rPr>
              <a:t>How </a:t>
            </a:r>
            <a:r>
              <a:rPr lang="en-US" dirty="0" err="1" smtClean="0">
                <a:latin typeface="Meiryo UI"/>
              </a:rPr>
              <a:t>Tokou</a:t>
            </a:r>
            <a:r>
              <a:rPr lang="en-US" dirty="0" smtClean="0">
                <a:latin typeface="Meiryo UI"/>
              </a:rPr>
              <a:t> process effect?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Meiryo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Meiryo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Meiryo UI"/>
            </a:endParaRPr>
          </a:p>
          <a:p>
            <a:endParaRPr lang="en-US" dirty="0" smtClean="0">
              <a:latin typeface="Meiryo UI"/>
            </a:endParaRPr>
          </a:p>
          <a:p>
            <a:endParaRPr lang="en-US" dirty="0" smtClean="0">
              <a:latin typeface="Meiryo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Meiryo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Meiryo UI"/>
              </a:rPr>
              <a:t>Improvement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Meiryo UI"/>
              </a:rPr>
              <a:t>Machine : High grade 8 zone, PET Film auto change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Meiryo UI"/>
              </a:rPr>
              <a:t>System : </a:t>
            </a:r>
            <a:r>
              <a:rPr lang="en-US" dirty="0" err="1" smtClean="0">
                <a:latin typeface="Meiryo UI"/>
              </a:rPr>
              <a:t>Tokou</a:t>
            </a:r>
            <a:r>
              <a:rPr lang="en-US" dirty="0" smtClean="0">
                <a:latin typeface="Meiryo UI"/>
              </a:rPr>
              <a:t> Electric-</a:t>
            </a:r>
            <a:r>
              <a:rPr lang="en-US" dirty="0" err="1" smtClean="0">
                <a:latin typeface="Meiryo UI"/>
              </a:rPr>
              <a:t>Futec</a:t>
            </a:r>
            <a:r>
              <a:rPr lang="en-US" dirty="0" smtClean="0">
                <a:latin typeface="Meiryo UI"/>
              </a:rPr>
              <a:t> </a:t>
            </a:r>
            <a:r>
              <a:rPr lang="en-US" dirty="0" err="1" smtClean="0">
                <a:latin typeface="Meiryo UI"/>
              </a:rPr>
              <a:t>Tickness</a:t>
            </a:r>
            <a:r>
              <a:rPr lang="en-US" dirty="0" smtClean="0">
                <a:latin typeface="Meiryo UI"/>
              </a:rPr>
              <a:t> </a:t>
            </a:r>
            <a:r>
              <a:rPr lang="en-US" dirty="0" smtClean="0">
                <a:latin typeface="Meiryo UI"/>
              </a:rPr>
              <a:t>System</a:t>
            </a:r>
          </a:p>
          <a:p>
            <a:endParaRPr lang="en-US" dirty="0" smtClean="0">
              <a:latin typeface="Meiryo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Meiryo UI"/>
              </a:rPr>
              <a:t>Special Characteristic </a:t>
            </a:r>
            <a:r>
              <a:rPr lang="en-US" smtClean="0">
                <a:latin typeface="Meiryo UI"/>
              </a:rPr>
              <a:t>: Sheet Weight (#)</a:t>
            </a:r>
            <a:endParaRPr lang="en-US" dirty="0" smtClean="0">
              <a:latin typeface="Meiryo U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latin typeface="Meiryo UI"/>
              </a:rPr>
              <a:t>4) Challenge &amp; Improvement</a:t>
            </a:r>
            <a:endParaRPr lang="en-US" sz="2400" dirty="0">
              <a:latin typeface="Meiryo U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27773"/>
              </p:ext>
            </p:extLst>
          </p:nvPr>
        </p:nvGraphicFramePr>
        <p:xfrm>
          <a:off x="499241" y="705204"/>
          <a:ext cx="8248010" cy="20222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24005"/>
                <a:gridCol w="4124005"/>
              </a:tblGrid>
              <a:tr h="222369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Meiryo UI"/>
                        </a:rPr>
                        <a:t>Challenge</a:t>
                      </a:r>
                      <a:endParaRPr lang="en-US" sz="1800" dirty="0">
                        <a:latin typeface="Meiryo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Meiryo UI"/>
                        </a:rPr>
                        <a:t>Cause</a:t>
                      </a:r>
                      <a:endParaRPr lang="en-US" sz="1800" dirty="0">
                        <a:latin typeface="Meiryo UI"/>
                      </a:endParaRPr>
                    </a:p>
                  </a:txBody>
                  <a:tcPr/>
                </a:tc>
              </a:tr>
              <a:tr h="376316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Meiryo UI"/>
                        </a:rPr>
                        <a:t>5</a:t>
                      </a:r>
                      <a:r>
                        <a:rPr lang="en-US" sz="1800" baseline="0" dirty="0" smtClean="0">
                          <a:latin typeface="Meiryo UI"/>
                        </a:rPr>
                        <a:t> Zone machine speed are slower.</a:t>
                      </a:r>
                      <a:endParaRPr lang="en-US" sz="1800" dirty="0">
                        <a:latin typeface="Meiryo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>
                          <a:latin typeface="Meiryo UI"/>
                        </a:rPr>
                        <a:t>Due to limited zone.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>
                          <a:latin typeface="Meiryo UI"/>
                        </a:rPr>
                        <a:t>Short</a:t>
                      </a:r>
                      <a:r>
                        <a:rPr lang="en-US" sz="1800" baseline="0" dirty="0" smtClean="0">
                          <a:latin typeface="Meiryo UI"/>
                        </a:rPr>
                        <a:t> way to dry.</a:t>
                      </a:r>
                      <a:endParaRPr lang="en-US" sz="1800" dirty="0">
                        <a:latin typeface="Meiryo UI"/>
                      </a:endParaRPr>
                    </a:p>
                  </a:txBody>
                  <a:tcPr/>
                </a:tc>
              </a:tr>
              <a:tr h="376316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Meiryo UI"/>
                        </a:rPr>
                        <a:t>PET</a:t>
                      </a:r>
                      <a:r>
                        <a:rPr lang="en-US" sz="1800" baseline="0" dirty="0" smtClean="0">
                          <a:latin typeface="Meiryo UI"/>
                        </a:rPr>
                        <a:t> Film are change manually</a:t>
                      </a:r>
                      <a:endParaRPr lang="en-US" sz="1800" dirty="0">
                        <a:latin typeface="Meiryo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>
                          <a:latin typeface="Meiryo UI"/>
                        </a:rPr>
                        <a:t>Does</a:t>
                      </a:r>
                      <a:r>
                        <a:rPr lang="en-US" sz="1800" baseline="0" dirty="0" smtClean="0">
                          <a:latin typeface="Meiryo UI"/>
                        </a:rPr>
                        <a:t> not have machine judgement</a:t>
                      </a:r>
                      <a:endParaRPr lang="en-US" sz="1800" dirty="0">
                        <a:latin typeface="Meiryo UI"/>
                      </a:endParaRPr>
                    </a:p>
                  </a:txBody>
                  <a:tcPr/>
                </a:tc>
              </a:tr>
              <a:tr h="53026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Meiryo UI"/>
                        </a:rPr>
                        <a:t>Thickness </a:t>
                      </a:r>
                      <a:r>
                        <a:rPr lang="en-US" sz="1800" dirty="0" err="1" smtClean="0">
                          <a:latin typeface="Meiryo UI"/>
                        </a:rPr>
                        <a:t>Futec</a:t>
                      </a:r>
                      <a:r>
                        <a:rPr lang="en-US" sz="1800" baseline="0" dirty="0" smtClean="0">
                          <a:latin typeface="Meiryo UI"/>
                        </a:rPr>
                        <a:t> Machine and Electric scale (comparison)</a:t>
                      </a:r>
                      <a:endParaRPr lang="en-US" sz="1800" dirty="0">
                        <a:latin typeface="Meiryo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smtClean="0">
                          <a:latin typeface="Meiryo UI"/>
                        </a:rPr>
                        <a:t>This both</a:t>
                      </a:r>
                      <a:r>
                        <a:rPr lang="en-US" sz="1800" baseline="0" dirty="0" smtClean="0">
                          <a:latin typeface="Meiryo UI"/>
                        </a:rPr>
                        <a:t> machine still need human judgement.</a:t>
                      </a:r>
                      <a:endParaRPr lang="en-US" sz="1800" dirty="0">
                        <a:latin typeface="Meiryo UI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6" name="Straight Connector 45"/>
          <p:cNvCxnSpPr/>
          <p:nvPr/>
        </p:nvCxnSpPr>
        <p:spPr>
          <a:xfrm>
            <a:off x="2321565" y="4348531"/>
            <a:ext cx="4021" cy="1526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1517833" y="3178450"/>
            <a:ext cx="4922093" cy="1867625"/>
            <a:chOff x="1300563" y="3283308"/>
            <a:chExt cx="4922093" cy="1867625"/>
          </a:xfrm>
        </p:grpSpPr>
        <p:grpSp>
          <p:nvGrpSpPr>
            <p:cNvPr id="24" name="Group 23"/>
            <p:cNvGrpSpPr/>
            <p:nvPr/>
          </p:nvGrpSpPr>
          <p:grpSpPr>
            <a:xfrm>
              <a:off x="1300563" y="3647622"/>
              <a:ext cx="2201538" cy="1053663"/>
              <a:chOff x="1522813" y="4287988"/>
              <a:chExt cx="2201538" cy="1053663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1522813" y="4287988"/>
                <a:ext cx="2201538" cy="1053663"/>
                <a:chOff x="3397927" y="4050422"/>
                <a:chExt cx="2201538" cy="1053663"/>
              </a:xfrm>
            </p:grpSpPr>
            <p:sp>
              <p:nvSpPr>
                <p:cNvPr id="8" name="Rounded Rectangle 7"/>
                <p:cNvSpPr/>
                <p:nvPr/>
              </p:nvSpPr>
              <p:spPr>
                <a:xfrm>
                  <a:off x="3397927" y="4050422"/>
                  <a:ext cx="579256" cy="1053663"/>
                </a:xfrm>
                <a:prstGeom prst="round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ounded Rectangle 8"/>
                <p:cNvSpPr/>
                <p:nvPr/>
              </p:nvSpPr>
              <p:spPr>
                <a:xfrm>
                  <a:off x="5020209" y="4050422"/>
                  <a:ext cx="579256" cy="1053663"/>
                </a:xfrm>
                <a:prstGeom prst="round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Rounded Rectangle 6"/>
                <p:cNvSpPr/>
                <p:nvPr/>
              </p:nvSpPr>
              <p:spPr>
                <a:xfrm>
                  <a:off x="3594538" y="4099034"/>
                  <a:ext cx="1839310" cy="956442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7" name="Straight Connector 16"/>
              <p:cNvCxnSpPr/>
              <p:nvPr/>
            </p:nvCxnSpPr>
            <p:spPr>
              <a:xfrm flipH="1">
                <a:off x="1727202" y="4627361"/>
                <a:ext cx="109039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H="1">
                <a:off x="2468342" y="4814819"/>
                <a:ext cx="109039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H="1">
                <a:off x="1727202" y="4971394"/>
                <a:ext cx="109039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H="1">
                <a:off x="2468342" y="4473475"/>
                <a:ext cx="109039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H="1">
                <a:off x="2468342" y="5146951"/>
                <a:ext cx="109039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/>
            <p:cNvSpPr txBox="1"/>
            <p:nvPr/>
          </p:nvSpPr>
          <p:spPr>
            <a:xfrm>
              <a:off x="3627541" y="3283308"/>
              <a:ext cx="1503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Meiryo UI"/>
                </a:rPr>
                <a:t>Ceramic body</a:t>
              </a:r>
              <a:endParaRPr lang="en-US" dirty="0">
                <a:latin typeface="Meiryo UI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880103" y="3802329"/>
              <a:ext cx="2302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Meiryo UI"/>
                </a:rPr>
                <a:t>External Electrode</a:t>
              </a:r>
              <a:endParaRPr lang="en-US" dirty="0">
                <a:latin typeface="Meiryo UI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13676" y="4283344"/>
              <a:ext cx="1896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Meiryo UI"/>
                </a:rPr>
                <a:t>Internal Electrode</a:t>
              </a:r>
              <a:endParaRPr lang="en-US" dirty="0">
                <a:latin typeface="Meiryo U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3212473" y="4781601"/>
                  <a:ext cx="30101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>
                      <a:latin typeface="Meiryo UI"/>
                    </a:rPr>
                    <a:t>Internal Layer Sheet (</a:t>
                  </a:r>
                  <a:r>
                    <a:rPr lang="en-US" dirty="0" err="1" smtClean="0">
                      <a:latin typeface="Meiryo UI"/>
                    </a:rPr>
                    <a:t>Bati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dirty="0" smtClean="0">
                      <a:latin typeface="Meiryo UI"/>
                    </a:rPr>
                    <a:t>)</a:t>
                  </a:r>
                  <a:endParaRPr lang="en-US" dirty="0">
                    <a:latin typeface="Meiryo UI"/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2473" y="4781601"/>
                  <a:ext cx="3010183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1822" t="-11475" r="-810" b="-213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/>
            <p:cNvCxnSpPr>
              <a:endCxn id="25" idx="1"/>
            </p:cNvCxnSpPr>
            <p:nvPr/>
          </p:nvCxnSpPr>
          <p:spPr>
            <a:xfrm flipV="1">
              <a:off x="2556572" y="3467974"/>
              <a:ext cx="1070969" cy="21904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26" idx="1"/>
            </p:cNvCxnSpPr>
            <p:nvPr/>
          </p:nvCxnSpPr>
          <p:spPr>
            <a:xfrm flipH="1">
              <a:off x="3443289" y="3986995"/>
              <a:ext cx="436814" cy="516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 flipV="1">
              <a:off x="2776114" y="4185276"/>
              <a:ext cx="1053488" cy="2863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2323575" y="4411345"/>
              <a:ext cx="888898" cy="5734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2464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Meiryo UI"/>
              </a:rPr>
              <a:t>5</a:t>
            </a:r>
            <a:r>
              <a:rPr lang="en-US" sz="2400" dirty="0" smtClean="0">
                <a:latin typeface="Meiryo UI"/>
              </a:rPr>
              <a:t>) Conclusion</a:t>
            </a:r>
            <a:endParaRPr lang="en-US" sz="2400" dirty="0">
              <a:latin typeface="Meiryo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9063" y="672663"/>
            <a:ext cx="86150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latin typeface="Meiryo UI"/>
              </a:rPr>
              <a:t>The </a:t>
            </a:r>
            <a:r>
              <a:rPr lang="en-US" dirty="0" err="1" smtClean="0">
                <a:latin typeface="Meiryo UI"/>
              </a:rPr>
              <a:t>Tokou</a:t>
            </a:r>
            <a:r>
              <a:rPr lang="en-US" dirty="0" smtClean="0">
                <a:latin typeface="Meiryo UI"/>
              </a:rPr>
              <a:t> process conclude that chemical slurry forming a green sheet into the next process. This green sheet also as a COVER or LAYER for the MLCC. Therefore, </a:t>
            </a:r>
            <a:r>
              <a:rPr lang="en-US" dirty="0" err="1" smtClean="0">
                <a:latin typeface="Meiryo UI"/>
              </a:rPr>
              <a:t>Tokou</a:t>
            </a:r>
            <a:r>
              <a:rPr lang="en-US" dirty="0" smtClean="0">
                <a:latin typeface="Meiryo UI"/>
              </a:rPr>
              <a:t> process are important of 1</a:t>
            </a:r>
            <a:r>
              <a:rPr lang="en-US" baseline="30000" dirty="0" smtClean="0">
                <a:latin typeface="Meiryo UI"/>
              </a:rPr>
              <a:t>st</a:t>
            </a:r>
            <a:r>
              <a:rPr lang="en-US" dirty="0" smtClean="0">
                <a:latin typeface="Meiryo UI"/>
              </a:rPr>
              <a:t> stage of forming a layer of the chip. Finally, in stack layer of this green sheet is basically concept of our MLCC.</a:t>
            </a:r>
            <a:endParaRPr lang="en-US" dirty="0">
              <a:latin typeface="Meiryo U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6835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27786" y="3319463"/>
            <a:ext cx="2688431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9BA7BD-464F-48FD-BDD7-2BF673916031}" type="slidenum">
              <a:rPr lang="ja-JP" altLang="en-US" smtClean="0"/>
              <a:pPr>
                <a:defRPr/>
              </a:pPr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341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太陽誘電">
      <a:dk1>
        <a:srgbClr val="292929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F3300"/>
      </a:accent2>
      <a:accent3>
        <a:srgbClr val="009999"/>
      </a:accent3>
      <a:accent4>
        <a:srgbClr val="8064A2"/>
      </a:accent4>
      <a:accent5>
        <a:srgbClr val="4BACC6"/>
      </a:accent5>
      <a:accent6>
        <a:srgbClr val="FF9900"/>
      </a:accent6>
      <a:hlink>
        <a:srgbClr val="0000FF"/>
      </a:hlink>
      <a:folHlink>
        <a:srgbClr val="800080"/>
      </a:folHlink>
    </a:clrScheme>
    <a:fontScheme name="太陽誘電">
      <a:majorFont>
        <a:latin typeface="Arial Black"/>
        <a:ea typeface="HGPｺﾞｼｯｸM"/>
        <a:cs typeface=""/>
      </a:majorFont>
      <a:minorFont>
        <a:latin typeface="Arial"/>
        <a:ea typeface="HGPｺﾞｼｯｸ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36A9C6ED-7FA0-4DA4-8409-A67C69137A13}" vid="{3E79667B-922D-41B4-B0C0-0B79222F0A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1830</TotalTime>
  <Words>604</Words>
  <Application>Microsoft Office PowerPoint</Application>
  <PresentationFormat>On-screen Show (4:3)</PresentationFormat>
  <Paragraphs>156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HGPｺﾞｼｯｸM</vt:lpstr>
      <vt:lpstr>Meiryo UI</vt:lpstr>
      <vt:lpstr>游ゴシック</vt:lpstr>
      <vt:lpstr>Arial</vt:lpstr>
      <vt:lpstr>Calibri</vt:lpstr>
      <vt:lpstr>Cambria Math</vt:lpstr>
      <vt:lpstr>Wingdings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4) Challenge &amp; Improvement</vt:lpstr>
      <vt:lpstr>5) Conclusion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ms0005800</dc:creator>
  <cp:lastModifiedBy>CSIQCG0013</cp:lastModifiedBy>
  <cp:revision>309</cp:revision>
  <dcterms:created xsi:type="dcterms:W3CDTF">2025-11-11T08:20:53Z</dcterms:created>
  <dcterms:modified xsi:type="dcterms:W3CDTF">2025-11-28T03:56:57Z</dcterms:modified>
</cp:coreProperties>
</file>